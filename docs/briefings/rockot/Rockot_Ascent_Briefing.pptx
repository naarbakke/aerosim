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4ccbe39-16d5-ee3e-bc59-e59dfaead091}">
          <p14:sldIdLst>
            <p14:sldId id="256"/>
          </p14:sldIdLst>
        </p14:section>
        <p14:section name="Results" id="{7819fb01-2a7a-32db-9631-45f157d778a6}">
          <p14:sldIdLst>
            <p14:sldId id="257"/>
            <p14:sldId id="258"/>
            <p14:sldId id="259"/>
            <p14:sldId id="260"/>
          </p14:sldIdLst>
        </p14:section>
        <p14:section name="Method" id="{6a840054-e1fd-b89d-136c-cdf6e577df6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1463040"/>
            <a:ext cx="9966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306324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Byline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146304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Ascent Performance of the Rockot/Breeze-KM Launch Vehicle from Plesetsk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3063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AeroSim technical note  ·  October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40233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Abstract. </a:t>
            </a:r>
            <a:pPr algn="just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three-degree-of-freedom ascent model is calibrated against the User's Guide reference mission [1]: 1,570 kg to a 650 km circular orbit at 86.58°. Stage-1 and stage-2 burnout speeds agree within 0.2 % and 0.5 %. Maximum dynamic pressure is 64.8 kPa and peak axial load 7.2 g. The upper stage inserts into a 643 × 666 km orbit at 86.34° with 235 kg of propellant remaining.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Stage parameters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Stage 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Stage 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Breeze-KM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Engines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RD-0233 ×3, RD-0234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RD-0235, RD-0236 ×4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S5.98M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Thrust, vacuum (kN)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2,178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Isp, vacuum (s)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Isp, sea level (s)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–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–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Burn time (s)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≤ 794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Propellant (kg)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86,691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14,475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4,975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Dry mass (kg)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5,695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1,485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Ideal Δv, vacuum (m/s)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4,109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Ideal Δv totals 10,061 m/s (fairing carried to stage-2 burnout). Lift-off mass 117.0 t; thrust-to-weight 1.75. Engine and Isp data [1]; dry masses [2]; stage-1/2 propellant fitted (slide 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Mission performance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User's Guide [1]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Payload (kg)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Lift-off mass (t)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117.0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Max. dynamic pressure (kPa)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64.8 at 51 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61.3 at 50 s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Peak axial load, stage 1 (g)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6.2–8.0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Peak axial load, stage 2 (g)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≤ 3.0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Peak axial load, Breeze-KM (g)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–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Transfer orbit (km)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 × 635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 × 635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Final orbit (km)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643 × 666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 × 650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Inclination (deg)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86.34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86.58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Lift-off to transfer orbit (s)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1,038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Breeze-KM propellant remaining (kg)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–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852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Reference mission from Plesetsk (62.8° N, 40.3° 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Ascent trajectory</a:t>
            </a:r>
            <a:endParaRPr lang="en-US" sz="2800" dirty="0"/>
          </a:p>
        </p:txBody>
      </p:sp>
      <p:pic>
        <p:nvPicPr>
          <p:cNvPr id="3" name="Image 0" descr="Altitude, speed, flight-path angle, dynamic pressure, acceleration and mass versus time: model line with User's Guide way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188720"/>
            <a:ext cx="8613648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83080" y="6080760"/>
            <a:ext cx="8613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Line: model; points: waypoints of [1, fig. 3-6]. Vertical lines: max. q, stage-1 separation, fairing jettison, stage-2 separation.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State at flight events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 (s)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(km)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 (m/s)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γ (deg)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Event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Guide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Guide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Guide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Guide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Max. q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46.9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Stage-1 sep.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65.9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Fairing jettison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114.2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125.6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3,464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Stage-2 sep.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233.0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235.7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5,663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5,634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Burn-1 cutoff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1,038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189.9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250.7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7,902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7,832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−0.6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Model against [1, fig. 3-6]. v: Earth-relative speed; γ: flight-path angle.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Calibration and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Fitted by least squares to ten waypoints of [1]: stage-1/2 propellant, pitch kick, stage-2 pitch rate, Breeze-KM climb-rate law. Eight of ten met.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Misses: lift-off mass +9.3 %, burn-1 cutoff +156 s. The model needs more energy than the flight vehicle.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Point mass, constant thrust per stage, J2 gravity, generic drag, exponential upper atmosphere [3].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526280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Eurockot Launch Services, Rockot User's Guide, EHB0003, Issue 5, Rev. 0, 2011.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M. Wade, “Rokot,” Encyclopedia Astronautica, astronautix.com.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D. A. Vallado, Fundamentals of Astrodynamics and Applications, table 8-4.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Sim Note">
  <a:themeElements>
    <a:clrScheme name="AeroSim Note">
      <a:dk1>
        <a:srgbClr val="000000"/>
      </a:dk1>
      <a:lt1>
        <a:srgbClr val="FFFFFF"/>
      </a:lt1>
      <a:dk2>
        <a:srgbClr val="1A1A1A"/>
      </a:dk2>
      <a:lt2>
        <a:srgbClr val="F2F2F2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eroSim No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Ascent Performance of the Rockot/Breeze-KM Launch Vehicle</dc:title>
  <dc:subject>PptxGenJS Presentation</dc:subject>
  <dc:creator>AeroSim</dc:creator>
  <cp:lastModifiedBy>AeroSim</cp:lastModifiedBy>
  <cp:revision>1</cp:revision>
  <dcterms:created xsi:type="dcterms:W3CDTF">2026-10-24T15:27:17Z</dcterms:created>
  <dcterms:modified xsi:type="dcterms:W3CDTF">2026-10-24T15:27:17Z</dcterms:modified>
</cp:coreProperties>
</file>