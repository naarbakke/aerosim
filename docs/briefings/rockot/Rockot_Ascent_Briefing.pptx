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fae4c003-2aa9-4f23-2dc7-3b3396b347b6}">
          <p14:sldIdLst>
            <p14:sldId id="256"/>
            <p14:sldId id="257"/>
          </p14:sldIdLst>
        </p14:section>
        <p14:section name="Vehicle and mission" id="{51b7d029-8a4b-c3c3-c528-ac192bccc71d}">
          <p14:sldIdLst>
            <p14:sldId id="258"/>
            <p14:sldId id="259"/>
            <p14:sldId id="260"/>
          </p14:sldIdLst>
        </p14:section>
        <p14:section name="Results" id="{9911c92d-719f-c75c-3952-1d959ee4c124}">
          <p14:sldIdLst>
            <p14:sldId id="261"/>
            <p14:sldId id="262"/>
            <p14:sldId id="263"/>
          </p14:sldIdLst>
        </p14:section>
        <p14:section name="Method" id="{c2df0493-be53-1761-e0d1-cdab534d7560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j-lt"/>
              </a:rPr>
              <a:t>Earth-relative speed (km/s)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AeroSim model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2514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Max q</c:v>
                  </c:pt>
                  <c:pt idx="1">
                    <c:v>S1 sep</c:v>
                  </c:pt>
                  <c:pt idx="2">
                    <c:v>Fairing</c:v>
                  </c:pt>
                  <c:pt idx="3">
                    <c:v>S2 sep</c:v>
                  </c:pt>
                  <c:pt idx="4">
                    <c:v>Burn 1 end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0.59</c:v>
                </c:pt>
                <c:pt idx="1">
                  <c:v>3.16</c:v>
                </c:pt>
                <c:pt idx="2">
                  <c:v>3.46</c:v>
                </c:pt>
                <c:pt idx="3">
                  <c:v>5.66</c:v>
                </c:pt>
                <c:pt idx="4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User's Guide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2514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Max q</c:v>
                  </c:pt>
                  <c:pt idx="1">
                    <c:v>S1 sep</c:v>
                  </c:pt>
                  <c:pt idx="2">
                    <c:v>Fairing</c:v>
                  </c:pt>
                  <c:pt idx="3">
                    <c:v>S2 sep</c:v>
                  </c:pt>
                  <c:pt idx="4">
                    <c:v>Burn 1 end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0.57</c:v>
                </c:pt>
                <c:pt idx="1">
                  <c:v>3.16</c:v>
                </c:pt>
                <c:pt idx="2">
                  <c:v>3.6</c:v>
                </c:pt>
                <c:pt idx="3">
                  <c:v>5.63</c:v>
                </c:pt>
                <c:pt idx="4">
                  <c:v>7.83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2514E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3C2B7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2514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j-lt"/>
              </a:rPr>
              <a:t>Altitude (km)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AeroSim model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2514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Max q</c:v>
                  </c:pt>
                  <c:pt idx="1">
                    <c:v>S1 sep</c:v>
                  </c:pt>
                  <c:pt idx="2">
                    <c:v>Fairing</c:v>
                  </c:pt>
                  <c:pt idx="3">
                    <c:v>S2 sep</c:v>
                  </c:pt>
                  <c:pt idx="4">
                    <c:v>Burn 1 end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10.9</c:v>
                </c:pt>
                <c:pt idx="1">
                  <c:v>65.9</c:v>
                </c:pt>
                <c:pt idx="2">
                  <c:v>114.2</c:v>
                </c:pt>
                <c:pt idx="3">
                  <c:v>233</c:v>
                </c:pt>
                <c:pt idx="4">
                  <c:v>189.9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User's Guide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2514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Max q</c:v>
                  </c:pt>
                  <c:pt idx="1">
                    <c:v>S1 sep</c:v>
                  </c:pt>
                  <c:pt idx="2">
                    <c:v>Fairing</c:v>
                  </c:pt>
                  <c:pt idx="3">
                    <c:v>S2 sep</c:v>
                  </c:pt>
                  <c:pt idx="4">
                    <c:v>Burn 1 end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10.7</c:v>
                </c:pt>
                <c:pt idx="1">
                  <c:v>68.3</c:v>
                </c:pt>
                <c:pt idx="2">
                  <c:v>125.6</c:v>
                </c:pt>
                <c:pt idx="3">
                  <c:v>235.7</c:v>
                </c:pt>
                <c:pt idx="4">
                  <c:v>250.7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2514E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3C2B7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2514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Briefing on an AeroSim model of the Rockot / Breeze-KM ascent from Plesetsk, built from the Rockot User's Guide (Eurockot, EHB0003 Issue 5, 2011) and calibrated to its reference trajectory.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guide's transfer orbit is 160 x 635.3 km yet its burn-2 altitude reads 665.6 km and its deployment orbit 650 km; the final-orbit box (499 x 506 km, 88.999 deg) does not match this mission and looks carried over from another figure. The model targets the transfer apogee and circularises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Title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058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Subtitle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Title</a:t>
            </a: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>
                    <a:alpha val="55000"/>
                  </a:schemeClr>
                </a:solidFill>
              </a:rPr>
              <a:t>Rockot / Breeze-KM ascent model  |  AeroSim  |  data: Rockot User's Guide EHB0003 Iss. 5 (2011)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Title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Rockot / Breeze-KM from Plesetsk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Ascent trajectory model of the User's Guide reference mission: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650 km circular orbit, 86.58° inclination  |  AeroSim  |  October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model flies the guide's reference mission to orbit</a:t>
            </a:r>
            <a:endParaRPr lang="en-US" sz="3200" dirty="0"/>
          </a:p>
        </p:txBody>
      </p:sp>
      <p:sp>
        <p:nvSpPr>
          <p:cNvPr id="3" name="stat payload to 650 km circular"/>
          <p:cNvSpPr/>
          <p:nvPr/>
        </p:nvSpPr>
        <p:spPr>
          <a:xfrm>
            <a:off x="548640" y="137160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 value"/>
          <p:cNvSpPr txBox="1"/>
          <p:nvPr/>
        </p:nvSpPr>
        <p:spPr>
          <a:xfrm>
            <a:off x="822960" y="16002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1,570 kg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payload to 650 km circular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7004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User's Guide fig. 3‑1, i = 86.4°</a:t>
            </a:r>
            <a:endParaRPr lang="en-US" sz="1100" dirty="0"/>
          </a:p>
        </p:txBody>
      </p:sp>
      <p:sp>
        <p:nvSpPr>
          <p:cNvPr id="7" name="stat max dynamic pressure at 51 s"/>
          <p:cNvSpPr/>
          <p:nvPr/>
        </p:nvSpPr>
        <p:spPr>
          <a:xfrm>
            <a:off x="4334256" y="137160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at value"/>
          <p:cNvSpPr txBox="1"/>
          <p:nvPr/>
        </p:nvSpPr>
        <p:spPr>
          <a:xfrm>
            <a:off x="4608576" y="16002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64.8 kPa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608576" y="23317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max dynamic pressure at 51 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08576" y="267004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guide: 61.29 kPa at 50 s</a:t>
            </a:r>
            <a:endParaRPr lang="en-US" sz="1100" dirty="0"/>
          </a:p>
        </p:txBody>
      </p:sp>
      <p:sp>
        <p:nvSpPr>
          <p:cNvPr id="11" name="stat lift-off to transfer orbit"/>
          <p:cNvSpPr/>
          <p:nvPr/>
        </p:nvSpPr>
        <p:spPr>
          <a:xfrm>
            <a:off x="8119872" y="137160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tat value"/>
          <p:cNvSpPr txBox="1"/>
          <p:nvPr/>
        </p:nvSpPr>
        <p:spPr>
          <a:xfrm>
            <a:off x="8394192" y="16002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1,038 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8394192" y="23317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lift-off to transfer orbit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94192" y="267004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guide: 882 s (end of Breeze-KM burn 1)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42900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Stage 1 and 2 burnout speeds within -0.2 % and +0.5 % of the guide's trajectory (fig. 3‑6).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Breeze-KM burn 1 reaches a 160 x 635 km transfer orbit (guide: 160 x 635 km); burn 2 circularises at 643 x 666 km, i = 86.34°.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Stage 1/2 propellant masses are not published; they were fitted to the guide's waypoints. The fitted vehicle weighs 117.0 t at lift-off against the guide's 107 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Three hypergolic stages; the top one restarts</a:t>
            </a:r>
            <a:endParaRPr lang="en-US" sz="3200" dirty="0"/>
          </a:p>
        </p:txBody>
      </p:sp>
      <p:sp>
        <p:nvSpPr>
          <p:cNvPr id="3" name="stage card Stage 1"/>
          <p:cNvSpPr/>
          <p:nvPr/>
        </p:nvSpPr>
        <p:spPr>
          <a:xfrm>
            <a:off x="548640" y="1371600"/>
            <a:ext cx="3520440" cy="384048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3 x RD-0233 + RD-0234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606040"/>
          <a:ext cx="2971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417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Thrust, vacuum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2,178 kN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Isp, vacuum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310.0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Burn 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Propellant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86,691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 mass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5,695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22960" y="4617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converted SS-19 stage, 17.2 m long</a:t>
            </a:r>
            <a:endParaRPr lang="en-US" sz="1100" dirty="0"/>
          </a:p>
        </p:txBody>
      </p:sp>
      <p:sp>
        <p:nvSpPr>
          <p:cNvPr id="8" name="stage card Stage 2"/>
          <p:cNvSpPr/>
          <p:nvPr/>
        </p:nvSpPr>
        <p:spPr>
          <a:xfrm>
            <a:off x="4334256" y="1371600"/>
            <a:ext cx="3520440" cy="384048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08576" y="16002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08576" y="21031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RD-0235 + 4 RD-0236 verniers</a:t>
            </a:r>
            <a:endParaRPr lang="en-US" sz="13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08576" y="2606040"/>
          <a:ext cx="2971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417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Thrust, vacuum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 kN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Isp, vacuum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Burn 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Propellant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14,475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 mass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1,485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4608576" y="4617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3.9 m long, verniers steer</a:t>
            </a:r>
            <a:endParaRPr lang="en-US" sz="1100" dirty="0"/>
          </a:p>
        </p:txBody>
      </p:sp>
      <p:sp>
        <p:nvSpPr>
          <p:cNvPr id="13" name="stage card Breeze-KM"/>
          <p:cNvSpPr/>
          <p:nvPr/>
        </p:nvSpPr>
        <p:spPr>
          <a:xfrm>
            <a:off x="8119872" y="1371600"/>
            <a:ext cx="3520440" cy="384048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394192" y="16002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Breeze-KM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8394192" y="21031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S5.98M, 20 kN</a:t>
            </a:r>
            <a:endParaRPr lang="en-US" sz="13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94192" y="2606040"/>
          <a:ext cx="2971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417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Thrust, vacuum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kN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Isp, vacuum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325.5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Burn 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1,000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Propellant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4,975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 mass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8394192" y="4617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up to 8 ignitions, 12 x 13 N + 4 x 400 N thrusters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Isp, burn times and Breeze-KM data: User's Guide tables 2‑2 to 2‑8. Stage 1/2 propellant is fitted (slide 9), so their thrust follows from it at the guide's burn time; the guide quotes 2,070 kN and 256 kN vacuum. Dry masses: Encyclopedia Astronautica.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Launch from Plesetsk, northbound into a near-polar orbit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206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Plesetsk Cosmodrome, 62.8° N 40.3° E, about 200 km south of Archangel (guide §3.2).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Allowed azimuths from 4.8° (i = 86.4°) to 76.2° (i = 63.2°); 341.5° for sun-synchronous orbits.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Target plane i = 86.583°: the model launches along the rotation-corrected azimuth and yaws out residual out-of-plane velocity.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Ground track runs north over the Barents Sea and the pole, then down the far side of the Earth.</a:t>
            </a:r>
            <a:endParaRPr lang="en-US" sz="1500" dirty="0"/>
          </a:p>
        </p:txBody>
      </p:sp>
      <p:pic>
        <p:nvPicPr>
          <p:cNvPr id="4" name="Image 0" descr="Ground track of the modelled Rockot ascent from Plesetsk on a latitude-longitude gr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325880"/>
            <a:ext cx="6629400" cy="31455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0" y="45262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AeroSim model output (aerosim.plots.ground_track)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About fifteen minutes from lift-off to the transfer orbit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80160" y="3291840"/>
            <a:ext cx="9601200" cy="0"/>
          </a:xfrm>
          <a:prstGeom prst="line">
            <a:avLst/>
          </a:prstGeom>
          <a:noFill/>
          <a:ln w="19050">
            <a:solidFill>
              <a:srgbClr val="C3C2B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3200400"/>
            <a:ext cx="182880" cy="18288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57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Lift-off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23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0 s model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0 s guide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16836" y="3200400"/>
            <a:ext cx="182880" cy="18288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76756" y="3611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Max q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676756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51 s model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676756" y="4251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50 s guide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66675" y="3200400"/>
            <a:ext cx="182880" cy="18288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26595" y="2057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Stage 1 sep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826595" y="2423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121 s model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826595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122 s guide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85851" y="3200400"/>
            <a:ext cx="182880" cy="18288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45771" y="3611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Fairing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45771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162 s model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45771" y="4251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173 s guide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84456" y="3200400"/>
            <a:ext cx="182880" cy="18288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744376" y="2057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Stage 2 sep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744376" y="2423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304 s model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744376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305 s guide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789920" y="3200400"/>
            <a:ext cx="182880" cy="18288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149840" y="3611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Burn 1 end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1,038 s model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0" y="4251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882 s guide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937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Time axis is square-root scaled so the first two minutes are readable.</a:t>
            </a:r>
            <a:endParaRPr lang="en-US" sz="1100" dirty="0"/>
          </a:p>
        </p:txBody>
      </p:sp>
      <p:sp>
        <p:nvSpPr>
          <p:cNvPr id="29" name="after burn 1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5486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Then: coast to apogee, Breeze-KM burn 2 at 4,093 s for 22 s (guide: 4,360 s, about 39 s) circularises the orbit; the guide deploys the spacecraft at 5,861 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Ascent profile tracks the guide's published waypoints</a:t>
            </a:r>
            <a:endParaRPr lang="en-US" sz="3200" dirty="0"/>
          </a:p>
        </p:txBody>
      </p:sp>
      <p:pic>
        <p:nvPicPr>
          <p:cNvPr id="3" name="Image 0" descr="Six small multiples of altitude, speed, flight-path angle, dynamic pressure, acceleration and mass versus time, model line with User's Guide waypoi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877824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55480" y="1371600"/>
            <a:ext cx="21031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Blue line: AeroSim model. Orange points: User's Guide fig. 3‑6 waypoints.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Max q, both stagings and the end of burn 1 sit on or near the guide's points.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Peak axial acceleration 7.2 g at stage 1 burnout; guide table 5‑1 gives 6.2‑8.0 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Stage 2 peaks at 2.7 g (guide: up to 3.0 g).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Model against the guide at each event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486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172200" y="1280160"/>
          <a:ext cx="5486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286000"/>
                <a:gridCol w="2286000"/>
                <a:gridCol w="2286000"/>
                <a:gridCol w="228600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model / guide (s)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Altitude (km)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(m/s)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Flight-path angle (deg)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 / 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 / 10.7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 / 567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46.9 / 47.9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sep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 / 122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65.9 / 68.3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3,156 / 3,163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 / 23.3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/ 173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114.2 / 125.6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3,464 / 3,599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 / 16.0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sep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304 / 305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233.0 / 235.7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 / 5,634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 / 7.3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Burn 1 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 / 882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189.9 / 250.7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7,902 / 7,832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 / -1.5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Breeze-KM burns twice to reach the 650 km class orbit</a:t>
            </a:r>
            <a:endParaRPr lang="en-US" sz="3200" dirty="0"/>
          </a:p>
        </p:txBody>
      </p:sp>
      <p:pic>
        <p:nvPicPr>
          <p:cNvPr id="3" name="Image 0" descr="Altitude versus downrange from lift-off to the end of the first Breeze-KM burn with events mar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315200" cy="292608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73152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Perigee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Apogee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Inclination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orbit,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 km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 km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86.34°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orbit, guide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 km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 km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86.58°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orbit,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643 km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 km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86.34°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orbit, guide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 km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 km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86.58°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orbit notes"/>
          <p:cNvSpPr/>
          <p:nvPr/>
        </p:nvSpPr>
        <p:spPr>
          <a:xfrm>
            <a:off x="8183880" y="1280160"/>
            <a:ext cx="3474720" cy="480060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458200" y="1508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Insertion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8458200" y="1965960"/>
            <a:ext cx="2971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Burn 1 is closed-loop: pitch holds a commanded climb rate while the 20 kN engine builds speed.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Burn 2 fires at apogee, prograde, and stops when perigee reaches the transfer apogee.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Burn 1 runs 734 s against the guide's 577 s and ends lower (190 km vs 251 km): the model's steering is less efficient.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Breeze-KM propellant left: 235 kg of 4,975 kg.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Two masses and five steering settings were fitted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92024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in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 propellant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71,455 kg (Astronautix)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86,691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2 propellant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10,710 kg (Astronautix)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14,475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Breeze-KM propellant / 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4,975 / 1,320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4,975 / 1,320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User's Guide t. 2-8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Payload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1,570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1,570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User's Guide fig. 3-1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published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Lift-off mass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 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117.0 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72400" y="1325880"/>
            <a:ext cx="3886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guide gives engines, burn times, Breeze-KM masses and lift-off mass, but not stage 1/2 propellant.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Published stage masses leave stage 1 about 300 m/s slow at burnout against the guide's own trajectory.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least-squares fit adjusts both propellant loads plus pitch kick, stage 2 pitch and Breeze-KM climb rate to ten guide targets.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Mass flow is propellant / burn time at constant thrust, so thrust scales with the fitted load.</a:t>
            </a:r>
            <a:endParaRPr lang="en-US" sz="1300" dirty="0"/>
          </a:p>
        </p:txBody>
      </p:sp>
      <p:sp>
        <p:nvSpPr>
          <p:cNvPr id="5" name="fit quality"/>
          <p:cNvSpPr/>
          <p:nvPr/>
        </p:nvSpPr>
        <p:spPr>
          <a:xfrm>
            <a:off x="548640" y="4251960"/>
            <a:ext cx="1106424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4348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of 10 targets met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983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within 1.5 tolerance units (25 m/s speed, 2‑4 km altitude, 1° angle, 3 km perigee)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754880" y="448056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Missed: Breeze-KM burn 1 ends 156 s later than the guide, and the fitted vehicle is 10.0 t heavier at lift-off. Both point the same way: the model needs more energy than the real vehicle to fly the same trajectory, most likely from its simple insertion steering and generic drag.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Limits and next steps</a:t>
            </a:r>
            <a:endParaRPr lang="en-US" sz="3200" dirty="0"/>
          </a:p>
        </p:txBody>
      </p:sp>
      <p:sp>
        <p:nvSpPr>
          <p:cNvPr id="3" name="closing card 0"/>
          <p:cNvSpPr/>
          <p:nvPr/>
        </p:nvSpPr>
        <p:spPr>
          <a:xfrm>
            <a:off x="548640" y="1371600"/>
            <a:ext cx="5394960" cy="4572000"/>
          </a:xfrm>
          <a:prstGeom prst="roundRect">
            <a:avLst>
              <a:gd name="adj" fmla="val 1600"/>
            </a:avLst>
          </a:prstGeom>
          <a:solidFill>
            <a:schemeClr val="bg1">
              <a:alpha val="8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model leaves out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8600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3-DOF point mass: no attitude dynamics or control-loop limits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Generic slender-body drag curve, not Rockot wind-tunnel data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Constant thrust per stage; no throttling, tail-off or vernier phases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Spherical-harmonic gravity to J2 only; exponential upper atmosphere</a:t>
            </a:r>
            <a:endParaRPr lang="en-US" sz="1500" dirty="0"/>
          </a:p>
        </p:txBody>
      </p:sp>
      <p:sp>
        <p:nvSpPr>
          <p:cNvPr id="6" name="closing card 1"/>
          <p:cNvSpPr/>
          <p:nvPr/>
        </p:nvSpPr>
        <p:spPr>
          <a:xfrm>
            <a:off x="6217920" y="1371600"/>
            <a:ext cx="5394960" cy="4572000"/>
          </a:xfrm>
          <a:prstGeom prst="roundRect">
            <a:avLst>
              <a:gd name="adj" fmla="val 1600"/>
            </a:avLst>
          </a:prstGeom>
          <a:solidFill>
            <a:schemeClr val="bg1">
              <a:alpha val="8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3796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Add stage drop zones and impact points (guide: 990‑1,100 km for stage 1)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Payload-vs-orbit sweep to reproduce guide fig. 3‑1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SSO mission: 341.5° azimuth, parking orbit and plane change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Monte Carlo on thrust, Isp and winds for dispersion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Sources and reproduction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Eurockot Launch Services, Rockot User's Guide, EHB0003, Issue 5, Revision 0, August 2011: tables 2‑1 to 2‑8, section 3, figures 3‑1 and 3‑6. Copy in docs/references/rockot/.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Encyclopedia Astronautica, Rokot (astronautix.com/r/rokot.html): stage gross and empty masses.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D. Vallado, Fundamentals of Astrodynamics and Applications, table 8‑4: upper-atmosphere density.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Model: AeroSim configs/examples/rocket/orbital/rockot.yaml; calibration: examples/rockot_ascent.py.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This briefing: python docs/briefings/rockot/make_briefing.py, then node docs/briefings/rockot/build/deck.js.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esetsk Night">
  <a:themeElements>
    <a:clrScheme name="Plesetsk Night">
      <a:dk1>
        <a:srgbClr val="0B0B0B"/>
      </a:dk1>
      <a:lt1>
        <a:srgbClr val="FFFFFF"/>
      </a:lt1>
      <a:dk2>
        <a:srgbClr val="14213D"/>
      </a:dk2>
      <a:lt2>
        <a:srgbClr val="EEF2F7"/>
      </a:lt2>
      <a:accent1>
        <a:srgbClr val="2A78D6"/>
      </a:accent1>
      <a:accent2>
        <a:srgbClr val="EB6834"/>
      </a:accent2>
      <a:accent3>
        <a:srgbClr val="1BAF7A"/>
      </a:accent3>
      <a:accent4>
        <a:srgbClr val="EDA100"/>
      </a:accent4>
      <a:accent5>
        <a:srgbClr val="6250D6"/>
      </a:accent5>
      <a:accent6>
        <a:srgbClr val="E34948"/>
      </a:accent6>
      <a:hlink>
        <a:srgbClr val="2A78D6"/>
      </a:hlink>
      <a:folHlink>
        <a:srgbClr val="6250D6"/>
      </a:folHlink>
    </a:clrScheme>
    <a:fontScheme name="Plesetsk Nigh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Rockot / Breeze-KM ascent from Plesetsk</dc:title>
  <dc:subject>PptxGenJS Presentation</dc:subject>
  <dc:creator>AeroSim</dc:creator>
  <cp:lastModifiedBy>AeroSim</cp:lastModifiedBy>
  <cp:revision>1</cp:revision>
  <dcterms:created xsi:type="dcterms:W3CDTF">2026-10-24T01:33:39Z</dcterms:created>
  <dcterms:modified xsi:type="dcterms:W3CDTF">2026-10-24T01:33:39Z</dcterms:modified>
</cp:coreProperties>
</file>